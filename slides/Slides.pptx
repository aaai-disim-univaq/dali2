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63240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2860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DALI2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DD5F5"/>
                </a:solidFill>
                <a:latin typeface="Segoe UI"/>
              </a:defRPr>
            </a:pPr>
            <a:r>
              <a:t>Multi-Agent System Framework Built on SWI-Prolog</a:t>
            </a:r>
            <a:br/>
            <a:r>
              <a:t>Process-per-Agent Architecture  ·  Redis Star Topology  ·  Full DALI Compatibility</a:t>
            </a:r>
            <a:br/>
            <a:br/>
            <a:r>
              <a:t>University of L'Aquila — DISIM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Introduction</a:t>
            </a:r>
            <a:r>
              <a:rPr sz="1800">
                <a:solidFill>
                  <a:srgbClr val="1E293B"/>
                </a:solidFill>
                <a:latin typeface="Segoe UI"/>
              </a:rPr>
              <a:t> — What is DALI? What is DALI2?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Architecture</a:t>
            </a:r>
            <a:r>
              <a:rPr sz="1800">
                <a:solidFill>
                  <a:srgbClr val="1E293B"/>
                </a:solidFill>
                <a:latin typeface="Segoe UI"/>
              </a:rPr>
              <a:t> — Redis star topology, process-per-agent model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Language Fundamentals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 declarations, suffixes, operators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Reactive Rules</a:t>
            </a:r>
            <a:r>
              <a:rPr sz="1800">
                <a:solidFill>
                  <a:srgbClr val="1E293B"/>
                </a:solidFill>
                <a:latin typeface="Segoe UI"/>
              </a:rPr>
              <a:t> — External events, actions, communication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Internal Events and Periodic Tasks</a:t>
            </a:r>
            <a:r>
              <a:rPr sz="1800">
                <a:solidFill>
                  <a:srgbClr val="1E293B"/>
                </a:solidFill>
                <a:latin typeface="Segoe UI"/>
              </a:rPr>
              <a:t> — Proactive behavior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Condition and Environment Rules</a:t>
            </a:r>
            <a:r>
              <a:rPr sz="1800">
                <a:solidFill>
                  <a:srgbClr val="1E293B"/>
                </a:solidFill>
                <a:latin typeface="Segoe UI"/>
              </a:rPr>
              <a:t> — Monitors, constraints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Goals and Memory</a:t>
            </a:r>
            <a:r>
              <a:rPr sz="1800">
                <a:solidFill>
                  <a:srgbClr val="1E293B"/>
                </a:solidFill>
                <a:latin typeface="Segoe UI"/>
              </a:rPr>
              <a:t> — Achieve/test goals, past events, export past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Communication</a:t>
            </a:r>
            <a:r>
              <a:rPr sz="1800">
                <a:solidFill>
                  <a:srgbClr val="1E293B"/>
                </a:solidFill>
                <a:latin typeface="Segoe UI"/>
              </a:rPr>
              <a:t> — Tell/told filtering, FIPA messages, proposals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Advanced Features</a:t>
            </a:r>
            <a:r>
              <a:rPr sz="1800">
                <a:solidFill>
                  <a:srgbClr val="1E293B"/>
                </a:solidFill>
                <a:latin typeface="Segoe UI"/>
              </a:rPr>
              <a:t> — Ontology, learning, AI Oracle, blackboard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Agent Lifecycle</a:t>
            </a:r>
            <a:r>
              <a:rPr sz="1800">
                <a:solidFill>
                  <a:srgbClr val="1E293B"/>
                </a:solidFill>
                <a:latin typeface="Segoe UI"/>
              </a:rPr>
              <a:t> — Cycle-based event loop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Examples</a:t>
            </a:r>
            <a:r>
              <a:rPr sz="1800">
                <a:solidFill>
                  <a:srgbClr val="1E293B"/>
                </a:solidFill>
                <a:latin typeface="Segoe UI"/>
              </a:rPr>
              <a:t> — Agriculture, emergency, showcase, distributed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What is DALI?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 (Distributed Active Logic-based Interactive) is an agent-oriented programming language originally developed on SICStus Prolog.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Logic-based agents</a:t>
            </a:r>
            <a:r>
              <a:rPr sz="1800">
                <a:solidFill>
                  <a:srgbClr val="1E293B"/>
                </a:solidFill>
                <a:latin typeface="Segoe UI"/>
              </a:rPr>
              <a:t> — each agent is a Prolog program with reactive and proactive capabilities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BDI-inspired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have Beliefs, react to events, pursue Goals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Event-driven</a:t>
            </a:r>
            <a:r>
              <a:rPr sz="1800">
                <a:solidFill>
                  <a:srgbClr val="1E293B"/>
                </a:solidFill>
                <a:latin typeface="Segoe UI"/>
              </a:rPr>
              <a:t> — external events (:&gt;), internal events, condition-action rules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Communication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send messages using Linda-like coordination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Past memory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remember what happened and reason about history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FIPA-ACL support</a:t>
            </a:r>
            <a:r>
              <a:rPr sz="1800">
                <a:solidFill>
                  <a:srgbClr val="1E293B"/>
                </a:solidFill>
                <a:latin typeface="Segoe UI"/>
              </a:rPr>
              <a:t> — standard agent communication language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Original implementation</a:t>
            </a:r>
            <a:r>
              <a:rPr sz="1800">
                <a:solidFill>
                  <a:srgbClr val="1E293B"/>
                </a:solidFill>
                <a:latin typeface="Segoe UI"/>
              </a:rPr>
              <a:t> — ~20 source files, SICStus Prolog, TCP sockets, Python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From DALI to DALI2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is the evolution of DALI — same language, modern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Same syntax</a:t>
            </a:r>
            <a:r>
              <a:rPr sz="1800">
                <a:solidFill>
                  <a:srgbClr val="1E293B"/>
                </a:solidFill>
                <a:latin typeface="Segoe UI"/>
              </a:rPr>
              <a:t> — identical operators (:&gt;, :&lt;, ~/, &lt;/, ?/, :~) and suffixes (E, I, A, N, P)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SWI-Prolog</a:t>
            </a:r>
            <a:r>
              <a:rPr sz="1800">
                <a:solidFill>
                  <a:srgbClr val="1E293B"/>
                </a:solidFill>
                <a:latin typeface="Segoe UI"/>
              </a:rPr>
              <a:t> — free, open-source, cross-platform (replaces SICStus)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8 source files</a:t>
            </a:r>
            <a:r>
              <a:rPr sz="1800">
                <a:solidFill>
                  <a:srgbClr val="1E293B"/>
                </a:solidFill>
                <a:latin typeface="Segoe UI"/>
              </a:rPr>
              <a:t> — down from ~20 in the original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Single-file multi-agent</a:t>
            </a:r>
            <a:r>
              <a:rPr sz="1800">
                <a:solidFill>
                  <a:srgbClr val="1E293B"/>
                </a:solidFill>
                <a:latin typeface="Segoe UI"/>
              </a:rPr>
              <a:t> — all agents in one .pl file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Redis communication</a:t>
            </a:r>
            <a:r>
              <a:rPr sz="1800">
                <a:solidFill>
                  <a:srgbClr val="1E293B"/>
                </a:solidFill>
                <a:latin typeface="Segoe UI"/>
              </a:rPr>
              <a:t> — replaces TCP sockets with pub/sub star topology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Integrated web UI</a:t>
            </a:r>
            <a:r>
              <a:rPr sz="1800">
                <a:solidFill>
                  <a:srgbClr val="1E293B"/>
                </a:solidFill>
                <a:latin typeface="Segoe UI"/>
              </a:rPr>
              <a:t> — dashboard, log viewer, agent inspector (replaces separate Python UI)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Docker-ready</a:t>
            </a:r>
            <a:r>
              <a:rPr sz="1800">
                <a:solidFill>
                  <a:srgbClr val="1E293B"/>
                </a:solidFill>
                <a:latin typeface="Segoe UI"/>
              </a:rPr>
              <a:t> — one command to run everything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New features</a:t>
            </a:r>
            <a:r>
              <a:rPr sz="1800">
                <a:solidFill>
                  <a:srgbClr val="1E293B"/>
                </a:solidFill>
                <a:latin typeface="Segoe UI"/>
              </a:rPr>
              <a:t> — periodic tasks, condition monitors, helpers, AI Oracle, blackboard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Identical DALI syntax</a:t>
            </a:r>
            <a:r>
              <a:rPr sz="1800">
                <a:solidFill>
                  <a:srgbClr val="1E293B"/>
                </a:solidFill>
                <a:latin typeface="Segoe UI"/>
              </a:rPr>
              <a:t> — no prefix needed, same operators and suffixes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Process-per-agent</a:t>
            </a:r>
            <a:r>
              <a:rPr sz="1800">
                <a:solidFill>
                  <a:srgbClr val="1E293B"/>
                </a:solidFill>
                <a:latin typeface="Segoe UI"/>
              </a:rPr>
              <a:t> — each agent runs as a separate OS process (swipl)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Redis star topology</a:t>
            </a:r>
            <a:r>
              <a:rPr sz="1800">
                <a:solidFill>
                  <a:srgbClr val="1E293B"/>
                </a:solidFill>
                <a:latin typeface="Segoe UI"/>
              </a:rPr>
              <a:t> — LINDA channel (messages), LOGS channel (monitoring), BB SET (blackboard)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Single-file multi-agent</a:t>
            </a:r>
            <a:r>
              <a:rPr sz="1800">
                <a:solidFill>
                  <a:srgbClr val="1E293B"/>
                </a:solidFill>
                <a:latin typeface="Segoe UI"/>
              </a:rPr>
              <a:t> — :- agent(name). sets context for subsequent rules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Full DALI feature set</a:t>
            </a:r>
            <a:r>
              <a:rPr sz="1800">
                <a:solidFill>
                  <a:srgbClr val="1E293B"/>
                </a:solidFill>
                <a:latin typeface="Segoe UI"/>
              </a:rPr>
              <a:t> — reactive rules, internal events, goals, constraints, tell/told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Integrated web UI</a:t>
            </a:r>
            <a:r>
              <a:rPr sz="1800">
                <a:solidFill>
                  <a:srgbClr val="1E293B"/>
                </a:solidFill>
                <a:latin typeface="Segoe UI"/>
              </a:rPr>
              <a:t> — real-time dashboard, event sender, belief inspector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AI Oracle</a:t>
            </a:r>
            <a:r>
              <a:rPr sz="1800">
                <a:solidFill>
                  <a:srgbClr val="1E293B"/>
                </a:solidFill>
                <a:latin typeface="Segoe UI"/>
              </a:rPr>
              <a:t> — connect to any LLM via OpenRouter (GPT, Claude, Gemini, etc.)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LAN-ready</a:t>
            </a:r>
            <a:r>
              <a:rPr sz="1800">
                <a:solidFill>
                  <a:srgbClr val="1E293B"/>
                </a:solidFill>
                <a:latin typeface="Segoe UI"/>
              </a:rPr>
              <a:t> — distributed deployment across multiple machines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Docker support</a:t>
            </a:r>
            <a:r>
              <a:rPr sz="1800">
                <a:solidFill>
                  <a:srgbClr val="1E293B"/>
                </a:solidFill>
                <a:latin typeface="Segoe UI"/>
              </a:rPr>
              <a:t> — single command setup with Redis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Two ways to run DALI2: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With Docker (recommended)</a:t>
            </a:r>
            <a:r>
              <a:rPr sz="1800">
                <a:solidFill>
                  <a:srgbClr val="1E293B"/>
                </a:solidFill>
                <a:latin typeface="Segoe UI"/>
              </a:rPr>
              <a:t> — only Docker Desktop needed; Redis starts automatically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Without Docker</a:t>
            </a:r>
            <a:r>
              <a:rPr sz="1800">
                <a:solidFill>
                  <a:srgbClr val="1E293B"/>
                </a:solidFill>
                <a:latin typeface="Segoe UI"/>
              </a:rPr>
              <a:t> — requires SWI-Prolog (&gt;= 9.0) and Redis (&gt;= 6.0)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Redis</a:t>
            </a:r>
            <a:r>
              <a:rPr sz="1800">
                <a:solidFill>
                  <a:srgbClr val="1E293B"/>
                </a:solidFill>
                <a:latin typeface="Segoe UI"/>
              </a:rPr>
              <a:t> — must be running before starting DALI2; default: localhost:6379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Environment variables</a:t>
            </a:r>
            <a:r>
              <a:rPr sz="1800">
                <a:solidFill>
                  <a:srgbClr val="1E293B"/>
                </a:solidFill>
                <a:latin typeface="Segoe UI"/>
              </a:rPr>
              <a:t> — REDIS_HOST and REDIS_PORT to override defaults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Optional</a:t>
            </a:r>
            <a:r>
              <a:rPr sz="1800">
                <a:solidFill>
                  <a:srgbClr val="1E293B"/>
                </a:solidFill>
                <a:latin typeface="Segoe UI"/>
              </a:rPr>
              <a:t> — OPENROUTER_API_KEY for AI Oracle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Quick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Start DALI2 with Docker or SWI-Prolog, then open http://localhost:8080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090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090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With Docker (recommended) — Redis starts automatically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docker compose up --build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Choose a different agent file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AGENT_FILE=examples/emergency.pl docker compose up --build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Without Docker — start Redis first, then: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redis-server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swipl -l src/server.pl -g main -- 8080 examples/agriculture.pl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Windows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run.bat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Redis Star Topology · Process-per-Agent · Deployment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Redis Star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All agents communicate through a central Redis instance. No direct agent-to-agent connections.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14400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4572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8732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      |    Redis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      |  +---------+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      |  | LINDA   |  |  &lt;-- pub/sub for messages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      |  | LOGS    |  |  &lt;-- pub/sub for monitoring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      |  |  BB     |  |  &lt;-- SET for shared blackboard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      |  +---------+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      +-------+-------+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+-------------+-------------+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  |             |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+-----+-----+ +----+------+ +----+------+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| Agent 1   | | Agent 2   | | Agent N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| (swipl)   | | (swipl)   | | (swipl)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+-----------+ +-----------+ +-----------+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+----------------------------------------+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|       Master Server (:8080)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|  Web UI - REST API - Cluster View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+----------------------------------------+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Three Communication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Redis provides three distinct channels for different purposes: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LINDA channel</a:t>
            </a:r>
            <a:r>
              <a:rPr sz="1800">
                <a:solidFill>
                  <a:srgbClr val="1E293B"/>
                </a:solidFill>
                <a:latin typeface="Segoe UI"/>
              </a:rPr>
              <a:t> — pub/sub for inter-agent messages. Format: TO:CONTENT:FROM. All agents subscribe. TO=* for broadcast.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LOGS channel</a:t>
            </a:r>
            <a:r>
              <a:rPr sz="1800">
                <a:solidFill>
                  <a:srgbClr val="1E293B"/>
                </a:solidFill>
                <a:latin typeface="Segoe UI"/>
              </a:rPr>
              <a:t> — pub/sub for monitoring. Agents publish log entries; external tools can subscribe.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BB (Blackboard)</a:t>
            </a:r>
            <a:r>
              <a:rPr sz="1800">
                <a:solidFill>
                  <a:srgbClr val="1E293B"/>
                </a:solidFill>
                <a:latin typeface="Segoe UI"/>
              </a:rPr>
              <a:t> — Redis SET for shared data. Replaces DALI's Linda tuple space. Agents use bb_read/bb_write/bb_remove.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Process-per-Agent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Each agent runs as a separate OS process — true parallelism and isolation.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One swipl process per agent</a:t>
            </a:r>
            <a:r>
              <a:rPr sz="1800">
                <a:solidFill>
                  <a:srgbClr val="1E293B"/>
                </a:solidFill>
                <a:latin typeface="Segoe UI"/>
              </a:rPr>
              <a:t> — the master server spawns each agent as an independent process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Cycle-based execution</a:t>
            </a:r>
            <a:r>
              <a:rPr sz="1800">
                <a:solidFill>
                  <a:srgbClr val="1E293B"/>
                </a:solidFill>
                <a:latin typeface="Segoe UI"/>
              </a:rPr>
              <a:t> — each agent has its own event loop with configurable cycle duration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Independent failure</a:t>
            </a:r>
            <a:r>
              <a:rPr sz="1800">
                <a:solidFill>
                  <a:srgbClr val="1E293B"/>
                </a:solidFill>
                <a:latin typeface="Segoe UI"/>
              </a:rPr>
              <a:t> — if one agent crashes, others continue running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Redis decoupling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don't know each other's location; all routing is via Redis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Scalable</a:t>
            </a:r>
            <a:r>
              <a:rPr sz="1800">
                <a:solidFill>
                  <a:srgbClr val="1E293B"/>
                </a:solidFill>
                <a:latin typeface="Segoe UI"/>
              </a:rPr>
              <a:t> — add agents by adding :- agent(name). declarations to the .pl file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No shared memory</a:t>
            </a:r>
            <a:r>
              <a:rPr sz="1800">
                <a:solidFill>
                  <a:srgbClr val="1E293B"/>
                </a:solidFill>
                <a:latin typeface="Segoe UI"/>
              </a:rPr>
              <a:t> — all inter-agent state goes through Redis (messages or blackboard)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Deployment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Same code works in all three modes — just change how processes are started.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Mode A: All-in-one</a:t>
            </a:r>
            <a:r>
              <a:rPr sz="1800">
                <a:solidFill>
                  <a:srgbClr val="1E293B"/>
                </a:solidFill>
                <a:latin typeface="Segoe UI"/>
              </a:rPr>
              <a:t> — one Redis, one server, all agents in one terminal. Simplest setup.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Mode B: Multi-terminal</a:t>
            </a:r>
            <a:r>
              <a:rPr sz="1800">
                <a:solidFill>
                  <a:srgbClr val="1E293B"/>
                </a:solidFill>
                <a:latin typeface="Segoe UI"/>
              </a:rPr>
              <a:t> — multiple server instances on the same machine share one Redis. Each starts a subset of agents with --agents flag.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Mode C: Multi-machine</a:t>
            </a:r>
            <a:r>
              <a:rPr sz="1800">
                <a:solidFill>
                  <a:srgbClr val="1E293B"/>
                </a:solidFill>
                <a:latin typeface="Segoe UI"/>
              </a:rPr>
              <a:t> — same as Mode B but across LAN. All nodes point REDIS_HOST to the Redis machine.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No code changes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communicate through Redis regardless of deployment mode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Cluster panel</a:t>
            </a:r>
            <a:r>
              <a:rPr sz="1800">
                <a:solidFill>
                  <a:srgbClr val="1E293B"/>
                </a:solidFill>
                <a:latin typeface="Segoe UI"/>
              </a:rPr>
              <a:t> — web UI shows all agents across all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Distributed Deployment (Mode 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Multiple machines on the same LAN, all pointing to one Redis instance.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1440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87325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| Machine X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| (192.168.1.10)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|  +------------+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|  |   Redis    |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|  +------+-----+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+---------+-----------+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+------+------+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 |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+----+-------+ +---+--------+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Machine Y  | | Machine Z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port 8081  | | port 8082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soil_sensor| | crop_advisor|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weather_mon| | irrigation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logger     | | farmer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+------------+ +------------+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Deployment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Examples for each deployment mode: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Mode A: All-in-one (simplest)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docker compose up --build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Mode B: Multi-terminal (same machine, shared Redis)</a:t>
            </a: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Terminal 1 — sensors node (port 8081)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swipl -l src/server.pl -g main -- 8081 examples/agriculture.pl \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--name sensors --agents soil_sensor,weather_monitor,logger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Terminal 2 — advisors node (port 8082)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swipl -l src/server.pl -g main -- 8082 examples/agriculture.pl \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--name advisors --agents crop_advisor,irrigation_controller,farmer_agent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Mode C: Multi-machine — set REDIS_HOST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REDIS_HOST=192.168.1.10 swipl -l src/server.pl -g main -- 8081 \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examples/agriculture.pl --name sensors --agents soil_sensor,logger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Language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Agent Declarations · Suffixes · Operators · Beliefs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Agent Declaration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Every agent is declared with :- agent(Name, Options). All subsequent rules belong to that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Agent with options</a:t>
            </a: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agent(my_agent,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Agent without options (defaults to cycle(1))</a:t>
            </a: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agent(simple_agent).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Multiple agents in one file</a:t>
            </a: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... sensor rules here ...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... coordinator rules here ...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Options: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cycle(N)  — cycle duration in seconds (default: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Suffixes — Event and Predicate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uses single-letter suffixes to classify predicates. Identical to original DALI.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992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Suffix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External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alarmE(Type, Loc)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React to incoming messages or injected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Internal Event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check_statusI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Proactive event that fires automatically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dispatchA(Type, Loc)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Named, reusable action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Present Event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obstacle_aheadN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Atomic environment observation (use in body only)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Past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alarmP(Type)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event exists in past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Operators — Rule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operators define different kinds of rules. All identical to original DALI.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971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Operator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Syntax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:&gt;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Reactive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eventE(X) :&gt; body.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React to external or internal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:&lt;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Condition-Action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cond :&lt; action.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Edge-triggered: fires once when cond becomes true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Export Past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action ~/ past1, past2.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Fire when past events match, then consume them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&lt;/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Export Past (NOT done)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action &lt;/ past1.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Fire only if action was NOT done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?/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Export Past (done)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action ?/ past1.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Fire only if action WAS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:~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:~ condition.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Invariant checked every cycle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Beliefs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Beliefs are facts the agent holds true. They can be declared statically and modified at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Static beliefs (declared in agent file)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believes(target_temp(22)).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believes(current_temp(20)).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believes(mode(idle)).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Runtime operations (used in rule bodies):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assert_belief(Fact)    — add a belief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retract_belief(Fact)   — remove a belief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believes(Fact)         — check if a belief exists (ontology-aware)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Example in a rule body: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update_tempE(NewT)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retract_belief(current_temp(_)),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assert_belief(current_temp(NewT)),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log("Temperature updated to ~w", [NewT]).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Reactive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External Events · Actions · Communication ·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External Events (E + :&gt;)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React to incoming messages from other agents or injected events. The E suffix is stripped when matching. (From original DALI slides: "Events and Actions")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agent(doorman,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React to a bell ring event (DALI slide p.7)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bell_ringsE :&gt; do(open_door).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agent(access_controller,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Access controller (DALI slide p.9)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situation_okE :&gt; do(open_access).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situation_unsafeE :&gt; do(limit_access).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agent(security,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React to alarm with pattern matching (DALI slide p.8)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alarmE(Kind)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log("Alarm received: ~w", [Kind]),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do(alert_operator).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Communication: send and messageA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Two equivalent ways to send messages — DALI2 style (send) and classic DALI style (messageA). (DALI slides p.7, p.28)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agent(agent1,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Classic DALI style (from DALI basic example)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goE :&gt; messageA(agent2, send_message(go, Me)).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DALI2 style — concise, identical behavior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goE :&gt; send(agent2, go).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messageA(To, Comm_primitive(Content, From))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is equivalent to send(To, Content)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Other communication predicates: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send(Agent, Content)     — send to one agent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broadcast(Content)       — send to all agents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from(Sender)             — get sender of current message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reply_to(Content)        — reply to current message 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Actions (A Suffix)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Named, reusable actions. Actions are recorded in past memory as did(Action). (DALI slides p.7, p.9)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agent(doorman,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Action definitions (DALI slide p.7)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open_doorA :- log("Opening the door").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get_keyA :- log("Getting the key first").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Actions with preconditions (DALI slide p.7)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open_doorA :&lt; believes(have_key(true)).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open_doorA :&lt; do(get_key).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External event triggers an action via do/1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bell_ringsE :&gt; do(open_door).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After do(open_door), has_past(did(open_door)) is true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After do(get_key), has_past(did(get_key)) is true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This enables export past (?/) and past checks (P suffix)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Agents log messages to the LOGS Redis channel. Visible in the web UI event 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Simple log message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readingE(Value)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log("Sensor reading received"),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log("Value: ~w", [Value]).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Format syntax (same as Prolog format/2)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~w   — write term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~d   — write integer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~a   — write atom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~f   — write float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alarmE(Type, Loc)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log("ALARM: type=~w location=~w", [Type, Loc]).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Internal Events and Periodic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Proactive Behavior · Timers · Condition Monitors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Internal Events (I + :&gt;)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Internal conclusions initiate further inference (proactivity!). Defined by handler + configuration. (DALI slides p.11–12)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agent(cook,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Internal event: cake is ready (DALI slide p.11)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helper(ready(cake)) :- has_past(put_in_oven(cake)).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readyI(cake)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do(take_from_oven(cake)),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do(switch_off_oven),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log("Cake is ready! Bon appetit.").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internal_event(ready(cake), 5, forever, true, forever).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agent(security,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Attack detection (DALI slide p.12)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helper(attack_happening(Cond)) :- believes(suspicious(Cond)).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attack_happeningI(Cond)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do(start_emergency(Cond)), do(alert_operator).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internal_event(attack_happening(_), 3, forever, true, forever).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internal_event/5 —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Each parameter controls a different aspect of the internal event's lifecycle.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992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Argument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 name (without I suffix)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0, N (seconds)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Minimum interval between firings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Repetition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forever, times(N), change([...])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How many times / when to reset 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StartCond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true, believes(...), has_past(...)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Guard: must be true before event fires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StopCond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forever, believes(...), has_past(...)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Stop condition: event stops when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Internal Event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Advanced options for fine-grained control over internal event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Fire at most 3 times, reset when current_temp changes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startup_diagnosticI :&gt;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log("Startup diagnostic").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internal_event(startup_diagnostic, 0, change([current_temp(_)]), true, forever).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Fire only when mode is cooling (trigger/start condition)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cooling_monitorI :&gt;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believes(current_temp(T)),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log("Monitoring cooling, temp: ~w", [T]).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internal_event(cooling_monitor, 0, forever, believes(mode(cooling)), forever).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Fire only during work hours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work_hours_checkI :&gt;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log("Work hours system check").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internal_event(work_hours_check, 10, forever, true, in_date(time(9,0), time(17,0))).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Periodic Tasks (every)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Simple periodic execution at fixed intervals. No conditional options — just fires every N seconds.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310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Simple periodic log (one-liner)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every(10, log("Heartbeat")).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Periodic with body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every(30)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log("Checking system health"),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send(dashboard, health_check).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Difference from internal events: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every     — simple timer, no conditions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internal  — full lifecycle (start/stop/change/trigger conditions)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Condition Monitors (when)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Check a condition every cycle. Level-triggered: fires every cycle while condition holds.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Fire every cycle while temperature is above 30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when(believes(temperature(T)), T &gt; 30)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send(ac_controller, cool_down).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agent(alarm,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Check a past event condition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when(has_past(intrusion_detected))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send(security, alert).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Supports: believes(...), has_past(...), learned(...),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        bb_read(...), arithmetic comparisons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Condition and Environment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Condition-Action · Present Events · Multi-Events ·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Condition-Action Rules (:&lt;)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Edge-triggered: fires exactly once when condition transitions from false to true. (DALI slides p.7, p.9: actions with preconditions)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agent(access_controller,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Access controller (DALI slide p.9)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open_access only if access is currently limited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has_past(did(limit_access)) :&lt; do(open_access).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limit_access only if access is currently open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has_past(did(open_access)) :&lt; do(limit_access).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agent(doorman,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Actions with preconditions (DALI slide p.7)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open_door only when we have the key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believes(have_key(true)) :&lt; do(open_door).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Edge-triggered: fires ONCE when condition becomes true,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then waits for it to become false before firing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when vs :&lt; — Level vs Edge Triggered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Both check conditions every cycle, but they fire differently: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when (level-triggered)</a:t>
            </a:r>
            <a:r>
              <a:rPr sz="1800">
                <a:solidFill>
                  <a:srgbClr val="1E293B"/>
                </a:solidFill>
                <a:latin typeface="Segoe UI"/>
              </a:rPr>
              <a:t> — fires EVERY CYCLE while the condition is true. Good for continuous monitoring.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:&lt; (edge-triggered)</a:t>
            </a:r>
            <a:r>
              <a:rPr sz="1800">
                <a:solidFill>
                  <a:srgbClr val="1E293B"/>
                </a:solidFill>
                <a:latin typeface="Segoe UI"/>
              </a:rPr>
              <a:t> — fires ONCE when the condition becomes true. Waits for false-to-true transition before firing again.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Example:</a:t>
            </a:r>
            <a:r>
              <a:rPr sz="1800">
                <a:solidFill>
                  <a:srgbClr val="1E293B"/>
                </a:solidFill>
                <a:latin typeface="Segoe UI"/>
              </a:rPr>
              <a:t> temperature goes above 30 and stays there for 10 cycles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when</a:t>
            </a:r>
            <a:r>
              <a:rPr sz="1800">
                <a:solidFill>
                  <a:srgbClr val="1E293B"/>
                </a:solidFill>
                <a:latin typeface="Segoe UI"/>
              </a:rPr>
              <a:t> — fires 10 times (once per cycle)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:&lt;</a:t>
            </a:r>
            <a:r>
              <a:rPr sz="1800">
                <a:solidFill>
                  <a:srgbClr val="1E293B"/>
                </a:solidFill>
                <a:latin typeface="Segoe UI"/>
              </a:rPr>
              <a:t> — fires 1 time (on the first cycle where T &gt; 30)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Use when</a:t>
            </a:r>
            <a:r>
              <a:rPr sz="1800">
                <a:solidFill>
                  <a:srgbClr val="1E293B"/>
                </a:solidFill>
                <a:latin typeface="Segoe UI"/>
              </a:rPr>
              <a:t> for continuous reactions (keep sending alerts while hot)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Use :&lt;</a:t>
            </a:r>
            <a:r>
              <a:rPr sz="1800">
                <a:solidFill>
                  <a:srgbClr val="1E293B"/>
                </a:solidFill>
                <a:latin typeface="Segoe UI"/>
              </a:rPr>
              <a:t> for one-shot reactions (notify once when it becomes hot)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Present Events (N Suffix)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Atomic environmental observations — the agent perceives them but does not define them. Three stages of an event in DALI (slides p.6–7): N (present) → E (reaction) → P (past memory).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DALI slide p.6-7: "Perspectives on External Events"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alarm_signalN = present event (Stage 1: perceived, no reaction yet)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alarm_signalE = external event (Stage 2: reaction triggered)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alarm_signalP = past event   (Stage 3: remembered)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Original DALI example (slide p.7):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  visitor_arrived :- bell_ringsN.  (reasoning about what is happening)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  bell_ringsE :&gt; open_doorA.       (reacting to the event)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agent(doorman,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In DALI2, present events are atomic observations.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Use believes() or has_past() to reason about them: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bell_ringsE :&gt; do(open_door), log("Visitor arrived!").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WRONG: bell_ringsN :- do(something). &lt;-- NOT allowed!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Present events are atomic, they have no :-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Multi-Events with Delta-T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Conjunction of events in the head of a reactive rule. Must occur within a simultaneity interval (delta-t). (DALI slides p.8, Double Events example)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agent(security,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DALI slide p.8: conjunction of alarms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alarmE(K1), alarmE(K2), within(60)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log("Multiple alarms: ~w and ~w", [K1, K2]),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do(close_access), do(alert_operator).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agent(fire_controller,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DALI Double Events example: fire detection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heat_sensedE(Zone, Temp), smoke_detectedE(Zone, Level), within(60)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log("Fire in zone ~w! temp=~w smoke=~w", [Zone, Temp, Level]),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do(fire_response(Zone, Temp)).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within(N) = DALI's t60. / deltat(N) directive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Without within(), events match regardless of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Constraints (:~)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Invariant conditions checked every cycle. If violated (condition is false), the handler fires. Syntax: Cond :~ Handler.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Safety constraint: temperature must stay below 50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Left = condition that SHOULD hold; Right = handler if violated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(believes(current_temp(T)), T &lt; 50) :~ (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log("CONSTRAINT VIOLATED: Temp ~w exceeds limit!", [T]),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send(coordinator, emergency(overheating, T))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Simple constraint (log-only handler)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believes(config_loaded) :~ log("Config not loaded!").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Fires when condition is FALSE (violated).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Checked automatically every agent 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Goals and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Achieve Goals · Test Goals · Residue · Past Events · Export Past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Achieve Goals (obt_goal)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Goals are automatically attempted until they succeed, then expire. (DALI slides p.14–15: "each goal pG will be automatically attempted until it succeeds")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agent(patient,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Goal: find a good doctor (inspired by DALI slides p.38-40)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obt_goal(believes(chosen_doctor(_)))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log("Searching for a good doctor..."),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send(friend_nurse, query_ref(ability(_, _))).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agent(security,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Goal: keep trying to connect (DALI slide p.17)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obt_goal(believes(connection_established))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log("Attempting connection..."),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send(server, connect_request).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Lifecycle: try each cycle until condition met,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then mark as "achieved" and stop.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Test Goals (test_goal)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Try the plan once, then check if the goal succeeded. Does not retry.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Test if we received at least one alert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test_goal(believes(alerts_received(N)), N &gt; 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log("Testing if any alerts received...").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Lifecycle: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1. Execute plan ONCE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2. Check goal condition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3. Record result: succeeded / failed / error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4. Will NOT retry (unlike obt_goal)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Difference from obt_goal: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obt_goal — persistent, retries until achieved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test_goal — one-shot, records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Residue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When achieve(Goal) is called but the goal is not yet satisfiable, it becomes a residue goal — automatically retried each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The achieve call queues the goal as residue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start_residue_testE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log("Starting residue goal test..."),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achieve(has_past(residue_resolved)).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Lifecycle: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1. achieve(Goal) called — Goal not yet true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2. Goal queued as RESIDUE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3. Each cycle: re-check all residue goals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4. When condition becomes true -&gt; achieved, removed from residue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DALI equivalent: tenta_residuo(goal)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Past Event Lifetime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Control how long past events are kept in memory. Mirrors DALI's directives (slides p.9, p.17): "keep open_accessP until limit_accessA".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agent(access_controller,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DALI slide p.9: past events with terminating conditions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"keep open_accessP until close_accessA"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past_event(did(open_access), 3600).   %% keep for 1 hour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past_event(did(limit_access), 3600).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DALI slide p.17: keep bornP(daniele,...) forever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past_event(born(_, _), forever).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Check past in rule bodies: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has_past(Event)         — is event in past memory?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has_past(Event, Time)   — with timestamp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evp(Event)              — DALI-style past check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eventP(Args)            — DALI-style with P suffix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Remember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Expired past events move to a "remember" tier. Control remember lifetime and limits.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Past expires after 30s, then remembered for 5 minutes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past_event(sensor_data(_), 30).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remember_event(sensor_data(_), 300).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Keep only the last 10 remembered events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remember_event_mod(sensor_data(_), number(10), last).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number(N) — max entries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last      — keep newest  |  first — keep oldest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Check remembered events: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has_remember(Event)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has_remember(Event, 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Export Past — ~/ Operator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Fire when past event patterns match, then CONSUME (delete) them. Enables one-shot reactions to event combinations.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agent(fire_controller,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When both heat and smoke detected, consume and respond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(inspired by DALI Double Events fire detection example)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send(dispatch, fire_response(Zone)) ~/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heat_sensed(Zone, _), smoke_detected(Zone, _).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agent(security,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When alarm and breach both in past, consume and escalate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do(full_lockdown) ~/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alarm(_, _), breach_detected(_).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After firing: matched past events are REMOVED.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Rule can fire again only with NEW 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Export Past — &lt;/ and ?/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Conditional export past based on whether an action was or was not done. (DALI slide p.9: access controller pattern)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agent(fire_controller,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&lt;/ — Fire only if response was NOT done yet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(fire detected but no response action taken)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log("WARNING: fire detected but no response!") &lt;/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heat_sensed(_, _), smoke_detected(_, _).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?/ — Fire only if response WAS already done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(follow-up after fire_response action completed)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send(logger, log_event(followup_check)) ?/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heat_sensed(Zone, _), smoke_detected(Zone, _).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Summary: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~/  — fire when past events match (unconditional)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&lt;/  — fire when past events match AND action NOT done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?/  — fire when past events match AND action WAS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Inter-Agent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Tell/Told Filtering · Priority Queues · FIPA Messages · Proposals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Tell/Told Filtering (with Body Conditions)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Filter incoming/outgoing messages with real conditions. (DALI slides p.32–33, p.39–41: trust-based filtering)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7C3AED"/>
                </a:solidFill>
                <a:latin typeface="Consolas"/>
              </a:defRPr>
            </a:pPr>
            <a:r>
              <a:t>:- agent(patient, [cycle(2)]).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TOLD — receive filter (DALI slides p.33, p.39)</a:t>
            </a: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Only accept messages from agents we trust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told(Sender, send_message(_)) :-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believes(trust(patient, Sender, Trust)), Trust &gt; 0.3.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told(Sender, execute_proc(Proc)) :-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\+ has_past(unreliable(Sender)).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told(_, inform(_, _), 70) :- true.       %% always accept inform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told(_, emergency(_)).                   %% 2-arg form (priority=0)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TELL — send filter (DALI slide p.37)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tell(To, _, send_message(_)) :-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believes(trust(patient, To, Trust)), Trust &gt; 0.3.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tell(_, _, inform(_, _)) :-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Priority 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When an agent has told rules with numeric priorities, incoming messages are sorted before processing.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Priority values</a:t>
            </a:r>
            <a:r>
              <a:rPr sz="1800">
                <a:solidFill>
                  <a:srgbClr val="1E293B"/>
                </a:solidFill>
                <a:latin typeface="Segoe UI"/>
              </a:rPr>
              <a:t> — the third argument of told/3 is a numeric priority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Highest first</a:t>
            </a:r>
            <a:r>
              <a:rPr sz="1800">
                <a:solidFill>
                  <a:srgbClr val="1E293B"/>
                </a:solidFill>
                <a:latin typeface="Segoe UI"/>
              </a:rPr>
              <a:t> — messages with higher priority are processed first in each cycle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Example:</a:t>
            </a:r>
            <a:r>
              <a:rPr sz="1800">
                <a:solidFill>
                  <a:srgbClr val="1E293B"/>
                </a:solidFill>
                <a:latin typeface="Segoe UI"/>
              </a:rPr>
              <a:t> emergency(200) is processed before sensor_data(30)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Multiple messages per cycle</a:t>
            </a:r>
            <a:r>
              <a:rPr sz="1800">
                <a:solidFill>
                  <a:srgbClr val="1E293B"/>
                </a:solidFill>
                <a:latin typeface="Segoe UI"/>
              </a:rPr>
              <a:t> — all pending messages are sorted, then processed in order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Rejected messages</a:t>
            </a:r>
            <a:r>
              <a:rPr sz="1800">
                <a:solidFill>
                  <a:srgbClr val="1E293B"/>
                </a:solidFill>
                <a:latin typeface="Segoe UI"/>
              </a:rPr>
              <a:t> — messages not matching any told pattern are rejected with a log entry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AI Oracle filtering</a:t>
            </a:r>
            <a:r>
              <a:rPr sz="1800">
                <a:solidFill>
                  <a:srgbClr val="1E293B"/>
                </a:solidFill>
                <a:latin typeface="Segoe UI"/>
              </a:rPr>
              <a:t> — tell/told rules also apply to AI queries and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FIPA Message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supports FIPA-ACL message types for structured inter-agent communication.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931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Syntax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Receiver Semantics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inform(Content))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 + past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confirm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confirm(Fact))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Records confirmed(Fact) in past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disconfirm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disconfirm(Fact))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Removes confirmed(Fact) from past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propose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propose(Action))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Fires on_proposal handler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accept_proposal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accept_proposal(A))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reject_proposal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reject_proposal(A))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query_ref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query_ref(Query))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Auto-responds with matching beliefs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agree / refuse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agree(C))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failure / cancel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failure(A, R))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FIPA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FIPA primitives for influencing "mental state" of other agents. (DALI slides p.30: propose, accept_proposal, send_message)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4074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4074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agent(patient,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Ask a friend about a doctor (DALI slides p.38-39)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get_adviceE(Doctor)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send(friend_nurse, query_ref(ability(Doctor, _))).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Handle the response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informE(query_ref(ability(Doc, _)), values(V))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log("Advice about ~w: ~w", [Doc, V]).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agent(friend_nurse,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believes(ability(lung_doctor1, 0.7)).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believes(ability(lung_doctor2, 0.3)).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query_ref auto-responds with matching beliefs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confirm/disconfirm for fact management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propose/accept_proposal for negotiation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Action Proposals (on_proposal)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Negotiation via FIPA propose/accept/reject. (DALI slides p.30: propose(Action,[cond1,...,condn], A2))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4074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4074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7C3AED"/>
                </a:solidFill>
                <a:latin typeface="Consolas"/>
              </a:defRPr>
            </a:pPr>
            <a:r>
              <a:t>:- agent(lung_doctor1, [cycle(2)]).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Handle incoming proposals (inspired by DALI slide p.30)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on_proposal(treat(Patient)) :-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believes(available(true)),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from(Sender),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log("Accepting treatment for ~w", [Patient]),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accept_proposal(Sender, treat(Patient)).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on_proposal(treat(_)) :-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from(Sender),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reject_proposal(Sender, treat(_)).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7C3AED"/>
                </a:solidFill>
                <a:latin typeface="Consolas"/>
              </a:defRPr>
            </a:pPr>
            <a:r>
              <a:t>:- agent(patient, [cycle(2)]).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Send a proposal to a doctor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choose_doctorE(Doctor) :&gt;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send(Doctor, propose(treat(patient))).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Ontology · Learning · Helpers · Blackboard · AI 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Ontology Declarations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Meta-reasoning on messages exploiting ontologies. (DALI slides p.34–35: "piove" ↔ "it_rains", symmetric relations like loves(a,b) ↔ loves(b,a))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4074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4074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agent(patient,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DALI slide p.35: ontology for understanding messages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"piove" and "it_rains" are equivalent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ontology(same_as(piove, it_rains)).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ontology(same_as(malato, ill)).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ontology(eq_property(temperature, temp)).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Symmetric relations (DALI slide p.35)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loves(pippo, pina) matches loves(pina, pippo)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ontology(symmetric(loves)).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ontology(symmetric(near)).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External ontology file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ontology_file('local_ontology.pl').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If told fails, meta-rules automatically applied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on message contents (DALI slide p.34)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Learning Rules (learn_from)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Agents learn from experience. Inspired by DALI slides p.40: patient learns which doctors are effective.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4074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4074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agent(patient,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Learn doctor effectiveness from treatment outcomes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(inspired by DALI slides p.40: recovered_by / not_recovered_by)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learn_from(treatment(Doctor, recovered), good_doctor(Doctor)).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learn_from(treatment(Doctor, not_recovered), bad_doctor(Doctor)).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Use learned knowledge to choose next doctor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need_doctorE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( learned(treatment(Doc, _), good_doctor(Doc)) -&gt;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log("Choosing previously effective doctor: ~w", [Doc]),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send(Doc, request_appointment)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log("No learned preference, asking friends..."),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send(friend_nurse, query_ref(ability(_, _)))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Predicates: learn(P,O), learned(P,O), forget(P)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Helpers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Utility predicates callable from rule bodies. In original DALI, plain clauses served this role (e.g. access_is_limited :- limit_accessP).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agent(access_controller,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DALI slide p.9: helper conditions for access state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helper(access_is_limited) :- has_past(did(limit_access)).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helper(access_is_open) :- has_past(did(open_access)).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Used in condition-action rules: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has_past(did(limit_access)) :&lt; do(open_access).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has_past(did(open_access)) :&lt; do(limit_access).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agent(cook,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DALI slide p.11: helper to check if cake is ready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helper(ready(cake)) :- has_past(put_in_oven(cake)).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Helpers can use: believes, has_past, log, send,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Blackboard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Shared blackboard via Redis SET. All agents can read/write tuples.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Write to shared blackboard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readingE(Value)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bb_write(env_data(temperature, Value)),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log("Wrote temperature to blackboard").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agent(monitor,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Read from blackboard (non-destructive)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when(bb_read(env_data(temperature, T)), T &gt; 40)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log("Blackboard says temperature is ~w!", [T]).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Remove from blackboard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clearE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bb_remove(env_data(temperature, _)).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AI Oracle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Connect to any LLM via OpenRouter. Agents send context, receive Prolog facts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Configuration:</a:t>
            </a:r>
            <a:r>
              <a:rPr sz="1600">
                <a:solidFill>
                  <a:srgbClr val="1E293B"/>
                </a:solidFill>
                <a:latin typeface="Segoe UI"/>
              </a:rPr>
              <a:t> set OPENROUTER_API_KEY environment variable, web UI, or POST /api/ai/key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Optional:</a:t>
            </a:r>
            <a:r>
              <a:rPr sz="1600">
                <a:solidFill>
                  <a:srgbClr val="1E293B"/>
                </a:solidFill>
                <a:latin typeface="Segoe UI"/>
              </a:rPr>
              <a:t> if no key, ai_available fails and ask_ai returns suggestion(no_ai_available)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Models:</a:t>
            </a:r>
            <a:r>
              <a:rPr sz="1600">
                <a:solidFill>
                  <a:srgbClr val="1E293B"/>
                </a:solidFill>
                <a:latin typeface="Segoe UI"/>
              </a:rPr>
              <a:t> free (Gemini, Llama, Qwen, DeepSeek) and paid (GPT-4o, Claude, Gemini Pro)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Filtered:</a:t>
            </a:r>
            <a:r>
              <a:rPr sz="1600">
                <a:solidFill>
                  <a:srgbClr val="1E293B"/>
                </a:solidFill>
                <a:latin typeface="Segoe UI"/>
              </a:rPr>
              <a:t> tell/told rules apply to AI queries and responses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65960"/>
            <a:ext cx="548640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45720" cy="3310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7492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7C3AED"/>
                </a:solidFill>
                <a:latin typeface="Consolas"/>
              </a:defRPr>
            </a:pPr>
            <a:r>
              <a:t>:- agent(advisor, [cycle(2)]).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analyzeE(Data) :&gt;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( ai_available -&gt;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    ask_ai(analyze(Data), Advice),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    log("AI: ~w", [Advice]),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    send(coord, ai_rec(Advice))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;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    log("AI not available")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).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ask_ai(Context, Result)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ask_ai(Context, Prompt, Result)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Agent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Cycle-Based Event Loop · Past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Agent Cycle — 13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Each agent runs a cycle-based event loop. All 13 steps execute in order every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14400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4572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8732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+-------------------------------------------+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          Agent Cycle    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+-------------------------------------------+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1. Process messages (priority queue)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2. Process injected events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3. Process internals (interval/change)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4. Process periodic tasks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5. Process condition monitors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6. Process condition-actions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7. Process present events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8. Process multi-events  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9. Process past reactions (export past)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10. Check constraints     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11. Process goals + residue goals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12. Clean up expired past events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13. Sleep for cycle duration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   +--- repeat ---+      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Past Memory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Every event is recorded in past memory with a timestamp and source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received(Content, From)</a:t>
            </a:r>
            <a:r>
              <a:rPr sz="1800">
                <a:solidFill>
                  <a:srgbClr val="1E293B"/>
                </a:solidFill>
                <a:latin typeface="Segoe UI"/>
              </a:rPr>
              <a:t> — external message received from another agent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injected(Event)</a:t>
            </a:r>
            <a:r>
              <a:rPr sz="1800">
                <a:solidFill>
                  <a:srgbClr val="1E293B"/>
                </a:solidFill>
                <a:latin typeface="Segoe UI"/>
              </a:rPr>
              <a:t> — event injected via REST API or web UI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internal(Event)</a:t>
            </a:r>
            <a:r>
              <a:rPr sz="1800">
                <a:solidFill>
                  <a:srgbClr val="1E293B"/>
                </a:solidFill>
                <a:latin typeface="Segoe UI"/>
              </a:rPr>
              <a:t> — internal event that fired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did(Action)</a:t>
            </a:r>
            <a:r>
              <a:rPr sz="1800">
                <a:solidFill>
                  <a:srgbClr val="1E293B"/>
                </a:solidFill>
                <a:latin typeface="Segoe UI"/>
              </a:rPr>
              <a:t> — action that was executed via do/1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goal_achieved(Goal)</a:t>
            </a:r>
            <a:r>
              <a:rPr sz="1800">
                <a:solidFill>
                  <a:srgbClr val="1E293B"/>
                </a:solidFill>
                <a:latin typeface="Segoe UI"/>
              </a:rPr>
              <a:t> — goal that was successfully achieved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confirmed(Fact)</a:t>
            </a:r>
            <a:r>
              <a:rPr sz="1800">
                <a:solidFill>
                  <a:srgbClr val="1E293B"/>
                </a:solidFill>
                <a:latin typeface="Segoe UI"/>
              </a:rPr>
              <a:t> — fact confirmed via FIPA confirm message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Segoe UI"/>
              </a:defRPr>
            </a:pPr>
            <a:r>
              <a:t>• Past events have configurable lifetimes (past_event/2)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Segoe UI"/>
              </a:defRPr>
            </a:pPr>
            <a:r>
              <a:t>• Expired past events move to the remember tier (remember_event/2)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DSL Predicates — Communication and Beliefs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Predicates available inside rule bodies: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942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Predicate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send(Agent, Content)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 message to another agent (filtered by tell/told)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broadcast(Content)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 to all other agents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from(Sender)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 sender of current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reply_to(Content)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Reply to current message sender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log(Format, Args)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Log a formatted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assert_belief(Fact)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Add a belief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retract_belief(Fact)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Remove a belief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believes(Fact)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a belief exists (ontology-aware)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DSL Predicates — Past, Actions, Learning,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More predicates available inside rule bodies: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92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Predicate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has_past(Event)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event is in past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has_remember(Event)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event is in remember tier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has_confirmed(Fact)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fact was confirmed via FIPA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do(Action)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Execute a named action (recorded as did(Action))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helper(Goal)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Call a helper predicate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learn(P, O) / learned(P, O)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Record / check learned associations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achieve(Goal) / reset_goal(Goal)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Trigger / reset a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bb_read(P) / bb_write(T) / bb_remove(P)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Blackboard operations (Redis)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ask_ai(Context, Result)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Query AI Oracle (filtered by tell/told)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onto_match(T1, T2)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ontology equivalence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Smart Agriculture · Emergency Response · Feature Showcase · Distributed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Example: Smart Agriculture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File: examples/agriculture.pl — Precision agriculture with 6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soil_sensor</a:t>
            </a:r>
            <a:r>
              <a:rPr sz="1600">
                <a:solidFill>
                  <a:srgbClr val="1E293B"/>
                </a:solidFill>
                <a:latin typeface="Segoe UI"/>
              </a:rPr>
              <a:t> — receives soil readings, validates via internal events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weather_monitor</a:t>
            </a:r>
            <a:r>
              <a:rPr sz="1600">
                <a:solidFill>
                  <a:srgbClr val="1E293B"/>
                </a:solidFill>
                <a:latin typeface="Segoe UI"/>
              </a:rPr>
              <a:t> — receives weather data, detects risks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crop_advisor</a:t>
            </a:r>
            <a:r>
              <a:rPr sz="1600">
                <a:solidFill>
                  <a:srgbClr val="1E293B"/>
                </a:solidFill>
                <a:latin typeface="Segoe UI"/>
              </a:rPr>
              <a:t> — analyzes reports (with AI), decides actions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irrigation_controller</a:t>
            </a:r>
            <a:r>
              <a:rPr sz="1600">
                <a:solidFill>
                  <a:srgbClr val="1E293B"/>
                </a:solidFill>
                <a:latin typeface="Segoe UI"/>
              </a:rPr>
              <a:t> — activates/reduces irrigation per field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farmer_agent</a:t>
            </a:r>
            <a:r>
              <a:rPr sz="1600">
                <a:solidFill>
                  <a:srgbClr val="1E293B"/>
                </a:solidFill>
                <a:latin typeface="Segoe UI"/>
              </a:rPr>
              <a:t> — receives advisories and status updates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logger</a:t>
            </a:r>
            <a:r>
              <a:rPr sz="1600">
                <a:solidFill>
                  <a:srgbClr val="1E293B"/>
                </a:solidFill>
                <a:latin typeface="Segoe UI"/>
              </a:rPr>
              <a:t> — central event logging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65960"/>
            <a:ext cx="5486400" cy="22128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45720" cy="22128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749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Test: send to soil_sensor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read_soil(25, 6.5, north_field)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Flow: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sensor -&gt; crop_advisor: soil_report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advisor: low moisture -&gt; irrigate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advisor -&gt; irrigation: irrigate(field)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advisor -&gt; farmer: advisory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irrigation -&gt; farmer: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Example: Emergency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File: examples/emergency.pl — 9-agent emergency response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sensor</a:t>
            </a:r>
            <a:r>
              <a:rPr sz="1600">
                <a:solidFill>
                  <a:srgbClr val="1E293B"/>
                </a:solidFill>
                <a:latin typeface="Segoe UI"/>
              </a:rPr>
              <a:t> — detects events, validates alarms (real vs false) via internal events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coordinator</a:t>
            </a:r>
            <a:r>
              <a:rPr sz="1600">
                <a:solidFill>
                  <a:srgbClr val="1E293B"/>
                </a:solidFill>
                <a:latin typeface="Segoe UI"/>
              </a:rPr>
              <a:t> — multi-step dispatch: AI analysis, waits for equipment, tracks completion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manager</a:t>
            </a:r>
            <a:r>
              <a:rPr sz="1600">
                <a:solidFill>
                  <a:srgbClr val="1E293B"/>
                </a:solidFill>
                <a:latin typeface="Segoe UI"/>
              </a:rPr>
              <a:t> — determines equipment (firetruck/bulldozer/respirator)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evacuator</a:t>
            </a:r>
            <a:r>
              <a:rPr sz="1600">
                <a:solidFill>
                  <a:srgbClr val="1E293B"/>
                </a:solidFill>
                <a:latin typeface="Segoe UI"/>
              </a:rPr>
              <a:t> — handles evacuation, reports back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responder</a:t>
            </a:r>
            <a:r>
              <a:rPr sz="1600">
                <a:solidFill>
                  <a:srgbClr val="1E293B"/>
                </a:solidFill>
                <a:latin typeface="Segoe UI"/>
              </a:rPr>
              <a:t> — responds with equipment, reports back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communicator</a:t>
            </a:r>
            <a:r>
              <a:rPr sz="1600">
                <a:solidFill>
                  <a:srgbClr val="1E293B"/>
                </a:solidFill>
                <a:latin typeface="Segoe UI"/>
              </a:rPr>
              <a:t> — notifies civilians (mary, john)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mary, john</a:t>
            </a:r>
            <a:r>
              <a:rPr sz="1600">
                <a:solidFill>
                  <a:srgbClr val="1E293B"/>
                </a:solidFill>
                <a:latin typeface="Segoe UI"/>
              </a:rPr>
              <a:t> — person agents receiving notifications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logger</a:t>
            </a:r>
            <a:r>
              <a:rPr sz="1600">
                <a:solidFill>
                  <a:srgbClr val="1E293B"/>
                </a:solidFill>
                <a:latin typeface="Segoe UI"/>
              </a:rPr>
              <a:t> — logs all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65960"/>
            <a:ext cx="5486400" cy="287121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45720" cy="28712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74920" cy="259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Test: send to sensor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sense(fire, building_a)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Flow: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sensor validates -&gt; alarm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coord -&gt; evac + comm + mgr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mgr: fire -&gt; firetruck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comm -&gt; mary + john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evac -&gt; coord: evacuated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coord: equip+loc -&gt; responder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responder -&gt; coord: responded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coord: 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Example: Feature Showcase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File: examples/showcase.pl — Demonstrates ALL 32 DALI2 features in one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thermostat</a:t>
            </a:r>
            <a:r>
              <a:rPr sz="1800">
                <a:solidFill>
                  <a:srgbClr val="1E293B"/>
                </a:solidFill>
                <a:latin typeface="Segoe UI"/>
              </a:rPr>
              <a:t> — internal events (interval, change, trigger, between), constraints, condition-action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sensor</a:t>
            </a:r>
            <a:r>
              <a:rPr sz="1800">
                <a:solidFill>
                  <a:srgbClr val="1E293B"/>
                </a:solidFill>
                <a:latin typeface="Segoe UI"/>
              </a:rPr>
              <a:t> — periodic tasks, learning, blackboard, past lifetime, goals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coordinator</a:t>
            </a:r>
            <a:r>
              <a:rPr sz="1800">
                <a:solidFill>
                  <a:srgbClr val="1E293B"/>
                </a:solidFill>
                <a:latin typeface="Segoe UI"/>
              </a:rPr>
              <a:t> — tell/told (body conditions), FIPA, multi-events (delta-t), goals, residue, export past, AI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logger</a:t>
            </a:r>
            <a:r>
              <a:rPr sz="1800">
                <a:solidFill>
                  <a:srgbClr val="1E293B"/>
                </a:solidFill>
                <a:latin typeface="Segoe UI"/>
              </a:rPr>
              <a:t> — ontology (inline + external file), helpers, condition monitors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worker</a:t>
            </a:r>
            <a:r>
              <a:rPr sz="1800">
                <a:solidFill>
                  <a:srgbClr val="1E293B"/>
                </a:solidFill>
                <a:latin typeface="Segoe UI"/>
              </a:rPr>
              <a:t> — action proposals (on_proposal), FIPA responses, actions, told rules (body conditions)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10-step test sequence</a:t>
            </a:r>
            <a:r>
              <a:rPr sz="1800">
                <a:solidFill>
                  <a:srgbClr val="1E293B"/>
                </a:solidFill>
                <a:latin typeface="Segoe UI"/>
              </a:rPr>
              <a:t> — from basic events to FIPA proposals to residue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Example: Distributed Emergency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Two separate DALI2 nodes communicating via shared Redis (star topology).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Node 1: Sensors</a:t>
            </a:r>
            <a:r>
              <a:rPr sz="1600">
                <a:solidFill>
                  <a:srgbClr val="1E293B"/>
                </a:solidFill>
                <a:latin typeface="Segoe UI"/>
              </a:rPr>
              <a:t> (port 8081) — sensor + logger agents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E293B"/>
                </a:solidFill>
                <a:latin typeface="Segoe UI"/>
              </a:rPr>
              <a:t>• Node 2: Responders</a:t>
            </a:r>
            <a:r>
              <a:rPr sz="1600">
                <a:solidFill>
                  <a:srgbClr val="1E293B"/>
                </a:solidFill>
                <a:latin typeface="Segoe UI"/>
              </a:rPr>
              <a:t> (port 8082) — coordinator + evacuator + responder + communicator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• Cross-node communication via Redis LINDA channel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• No code changes vs single-node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• Cluster panel shows all agents across 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65960"/>
            <a:ext cx="54864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749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Start with Docker Compose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docker compose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-f docker-compose.distributed.yml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up --build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Or manually (3 terminals):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T1: Redis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docker run -d -p 6379:6379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redis:7-alpine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T2: Sensors (port 8080)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swipl -l src/server.pl -g main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-- 8080 emergency_sensors.pl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T3: Responders (port 8081)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swipl -l src/server.pl -g main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-- 8081 emergency_responders.pl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DALI vs DALI2 — Key Differences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is fully backward compatible with DALI syntax. Key architectural differences: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DALI (SICStus)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DALI2 (SWI-Prolog)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Source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Agent definition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Multiple files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Single .pl file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TCP sockets (Linda)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Redis star 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Separate Python project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Integrated web UI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External Python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Built-in (OpenRouter)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Complex (SICStus)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Simple (swipl image)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 syntax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eventE(X) :&gt; body.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eventE(X) :&gt; body. (identical!)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Present events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Atomic (en/1)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Atomic (body only, no :- definition)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Multi-events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deltat/1 time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within(Seconds) in event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Tell/Told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Body conditions supported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Body conditions supported (identical!)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messageA(dest, send_message(...))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Same, or send(dest, content)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DALI vs DALI2 — New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Features available in DALI2 that have no DALI equivalent: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942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DALI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DALI2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Periodic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every(seconds, goal).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Condition monitors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when(condition) :- body.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Helpers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helper(head) :- body.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Proposal handler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propose + call_propose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on_proposal(action) :- body.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learn_from(event, outcome) :- cond.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 Oracle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ask_ai(context, result)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Blackboard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Linda (TCP)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bb_read/bb_write/bb_remove (Redis)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Ontology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meta/3 + OWL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ontology(same_as(a,b)).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Web UI and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Integrated web interface at http://localhost:8080 with full REST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Agent list</a:t>
            </a:r>
            <a:r>
              <a:rPr sz="1800">
                <a:solidFill>
                  <a:srgbClr val="1E293B"/>
                </a:solidFill>
                <a:latin typeface="Segoe UI"/>
              </a:rPr>
              <a:t> — local and remote agents with running/stopped status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Event log</a:t>
            </a:r>
            <a:r>
              <a:rPr sz="1800">
                <a:solidFill>
                  <a:srgbClr val="1E293B"/>
                </a:solidFill>
                <a:latin typeface="Segoe UI"/>
              </a:rPr>
              <a:t> — real-time log with filtering by agent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Send events</a:t>
            </a:r>
            <a:r>
              <a:rPr sz="1800">
                <a:solidFill>
                  <a:srgbClr val="1E293B"/>
                </a:solidFill>
                <a:latin typeface="Segoe UI"/>
              </a:rPr>
              <a:t> — inject events into any agent from the browser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Agent details</a:t>
            </a:r>
            <a:r>
              <a:rPr sz="1800">
                <a:solidFill>
                  <a:srgbClr val="1E293B"/>
                </a:solidFill>
                <a:latin typeface="Segoe UI"/>
              </a:rPr>
              <a:t> — beliefs, past events, goals, start/stop controls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Blackboard viewer</a:t>
            </a:r>
            <a:r>
              <a:rPr sz="1800">
                <a:solidFill>
                  <a:srgbClr val="1E293B"/>
                </a:solidFill>
                <a:latin typeface="Segoe UI"/>
              </a:rPr>
              <a:t> — current shared blackboard state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Source editor</a:t>
            </a:r>
            <a:r>
              <a:rPr sz="1800">
                <a:solidFill>
                  <a:srgbClr val="1E293B"/>
                </a:solidFill>
                <a:latin typeface="Segoe UI"/>
              </a:rPr>
              <a:t> — edit and hot-reload agent definitions (double-click logo)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Cluster panel</a:t>
            </a:r>
            <a:r>
              <a:rPr sz="1800">
                <a:solidFill>
                  <a:srgbClr val="1E293B"/>
                </a:solidFill>
                <a:latin typeface="Segoe UI"/>
              </a:rPr>
              <a:t> — view all agents across all nodes in the Redis cluster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AI Oracle panel</a:t>
            </a:r>
            <a:r>
              <a:rPr sz="1800">
                <a:solidFill>
                  <a:srgbClr val="1E293B"/>
                </a:solidFill>
                <a:latin typeface="Segoe UI"/>
              </a:rPr>
              <a:t> — configure API key, model, and test AI queries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E293B"/>
                </a:solidFill>
                <a:latin typeface="Segoe UI"/>
              </a:rPr>
              <a:t>• REST API</a:t>
            </a:r>
            <a:r>
              <a:rPr sz="1800">
                <a:solidFill>
                  <a:srgbClr val="1E293B"/>
                </a:solidFill>
                <a:latin typeface="Segoe UI"/>
              </a:rPr>
              <a:t> — full programmatic access: /api/agents, /api/send, /api/beliefs, /api/logs,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REST API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All endpoints available at http://localhost:8080/api/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92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System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/api/agents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List agents with status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/api/send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 event {"to":"agent","content":"event(args)"}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/api/inject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Inject event {"agent":"name","event":"event(args)"}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/api/beliefs?agent=X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 agent beliefs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/api/past?agent=X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 past events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/api/learned?agent=X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 learned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/api/blackboard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View blackboard tuples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/api/ai/ask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Query AI {"context":"..."}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/api/cluster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All agents across all nodes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DD5F5"/>
                </a:solidFill>
                <a:latin typeface="Segoe UI"/>
              </a:defRPr>
            </a:pPr>
            <a:r>
              <a:t>DALI2 — Multi-Agent System Framework</a:t>
            </a:r>
            <a:br/>
            <a:r>
              <a:t>University of L'Aquila — DISIM</a:t>
            </a:r>
            <a:br/>
            <a:br/>
            <a:r>
              <a:t>Documentation: RULES.md (language reference) · EXAMPLES.md (examples guide)</a:t>
            </a:r>
            <a:br/>
            <a:r>
              <a:t>Source: github.com/AAAI-DISIM-UnivAQ/DALI2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